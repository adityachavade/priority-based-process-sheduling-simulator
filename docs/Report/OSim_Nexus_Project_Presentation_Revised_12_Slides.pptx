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001000" y="658368"/>
            <a:ext cx="3584448" cy="5440680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0" y="1188720"/>
            <a:ext cx="1572768" cy="1572768"/>
          </a:xfrm>
          <a:prstGeom prst="ellipse">
            <a:avLst/>
          </a:prstGeom>
          <a:noFill/>
          <a:ln w="25400">
            <a:solidFill>
              <a:srgbClr val="52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418320" y="1463040"/>
            <a:ext cx="1024128" cy="1024128"/>
          </a:xfrm>
          <a:prstGeom prst="ellipse">
            <a:avLst/>
          </a:prstGeom>
          <a:noFill/>
          <a:ln w="25400">
            <a:solidFill>
              <a:srgbClr val="AC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28632" y="1673352"/>
            <a:ext cx="603504" cy="603504"/>
          </a:xfrm>
          <a:prstGeom prst="ellipse">
            <a:avLst/>
          </a:prstGeom>
          <a:noFill/>
          <a:ln w="25400">
            <a:solidFill>
              <a:srgbClr val="3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396728" y="1947672"/>
            <a:ext cx="137160" cy="137160"/>
          </a:xfrm>
          <a:prstGeom prst="ellipse">
            <a:avLst/>
          </a:prstGeom>
          <a:solidFill>
            <a:srgbClr val="4BD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0451592" y="2011680"/>
            <a:ext cx="521208" cy="502920"/>
          </a:xfrm>
          <a:prstGeom prst="line">
            <a:avLst/>
          </a:prstGeom>
          <a:ln w="25400">
            <a:solidFill>
              <a:srgbClr val="4BDE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47888" y="3127248"/>
            <a:ext cx="30632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30DAE8"/>
                </a:solidFill>
                <a:latin typeface="Aptos"/>
              </a:rPr>
              <a:t>VISUALIZE  •  EXPERIMENT  •  UNDERSTAND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3602736"/>
            <a:ext cx="2971800" cy="438912"/>
          </a:xfrm>
          <a:prstGeom prst="roundRect">
            <a:avLst/>
          </a:prstGeom>
          <a:solidFill>
            <a:srgbClr val="16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30768" y="3749039"/>
            <a:ext cx="118872" cy="118872"/>
          </a:xfrm>
          <a:prstGeom prst="ellipse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59368" y="3675887"/>
            <a:ext cx="82296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3F7FF"/>
                </a:solidFill>
                <a:latin typeface="Aptos"/>
              </a:rPr>
              <a:t>CPU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3694176"/>
            <a:ext cx="1572768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 i="0">
                <a:solidFill>
                  <a:srgbClr val="A4B5CF"/>
                </a:solidFill>
                <a:latin typeface="Aptos"/>
              </a:rPr>
              <a:t>SCHEDULING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4178808"/>
            <a:ext cx="2971800" cy="438912"/>
          </a:xfrm>
          <a:prstGeom prst="roundRect">
            <a:avLst/>
          </a:prstGeom>
          <a:solidFill>
            <a:srgbClr val="16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30768" y="4325112"/>
            <a:ext cx="118872" cy="118872"/>
          </a:xfrm>
          <a:prstGeom prst="ellipse">
            <a:avLst/>
          </a:prstGeom>
          <a:solidFill>
            <a:srgbClr val="AC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59368" y="4251960"/>
            <a:ext cx="82296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3F7FF"/>
                </a:solidFill>
                <a:latin typeface="Aptos"/>
              </a:rPr>
              <a:t>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4270248"/>
            <a:ext cx="1572768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 i="0">
                <a:solidFill>
                  <a:srgbClr val="A4B5CF"/>
                </a:solidFill>
                <a:latin typeface="Aptos"/>
              </a:rPr>
              <a:t>ALLOCATION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4754880"/>
            <a:ext cx="2971800" cy="438912"/>
          </a:xfrm>
          <a:prstGeom prst="roundRect">
            <a:avLst/>
          </a:prstGeom>
          <a:solidFill>
            <a:srgbClr val="16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30768" y="4901184"/>
            <a:ext cx="118872" cy="118872"/>
          </a:xfrm>
          <a:prstGeom prst="ellipse">
            <a:avLst/>
          </a:prstGeom>
          <a:solidFill>
            <a:srgbClr val="4BD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59368" y="4828032"/>
            <a:ext cx="82296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3F7FF"/>
                </a:solidFill>
                <a:latin typeface="Aptos"/>
              </a:rPr>
              <a:t>DISK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4846320"/>
            <a:ext cx="1572768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 i="0">
                <a:solidFill>
                  <a:srgbClr val="A4B5CF"/>
                </a:solidFill>
                <a:latin typeface="Aptos"/>
              </a:rPr>
              <a:t>MOVEMENT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6928"/>
            <a:ext cx="6400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0DAE8"/>
                </a:solidFill>
                <a:latin typeface="Aptos"/>
              </a:rPr>
              <a:t>OPERATING SYSTEMS / PROJECT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960120"/>
            <a:ext cx="7132320" cy="713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 i="0">
                <a:solidFill>
                  <a:srgbClr val="F3F7FF"/>
                </a:solidFill>
                <a:latin typeface="Aptos Display"/>
              </a:rPr>
              <a:t>OSim Nexus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773936"/>
            <a:ext cx="6812280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A4B5CF"/>
                </a:solidFill>
                <a:latin typeface="Aptos Display"/>
              </a:rPr>
              <a:t>An interactive learning platform for core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A4B5CF"/>
                </a:solidFill>
                <a:latin typeface="Aptos Display"/>
              </a:rPr>
              <a:t>Operating System concepts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2660904"/>
            <a:ext cx="1627632" cy="292608"/>
          </a:xfrm>
          <a:prstGeom prst="roundRect">
            <a:avLst/>
          </a:prstGeom>
          <a:solidFill>
            <a:srgbClr val="16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8368" y="2660904"/>
            <a:ext cx="41148" cy="292608"/>
          </a:xfrm>
          <a:prstGeom prst="rect">
            <a:avLst/>
          </a:prstGeom>
          <a:solidFill>
            <a:srgbClr val="AC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2715768"/>
            <a:ext cx="1444752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AC75FF"/>
                </a:solidFill>
                <a:latin typeface="Aptos"/>
              </a:rPr>
              <a:t>ACADEMIC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3099816"/>
            <a:ext cx="21945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30DAE8"/>
                </a:solidFill>
                <a:latin typeface="Aptos"/>
              </a:rPr>
              <a:t>PROJECT TEAM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401568"/>
            <a:ext cx="20116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3F7FF"/>
                </a:solidFill>
                <a:latin typeface="Aptos"/>
              </a:rPr>
              <a:t>Atharva Joshi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88336" y="3401568"/>
            <a:ext cx="19659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19" b="0" i="0">
                <a:solidFill>
                  <a:srgbClr val="A4B5CF"/>
                </a:solidFill>
                <a:latin typeface="Aptos"/>
              </a:rPr>
              <a:t>Roll 6  •  PRN 12411537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941064"/>
            <a:ext cx="20116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3F7FF"/>
                </a:solidFill>
                <a:latin typeface="Aptos"/>
              </a:rPr>
              <a:t>Varad Khakre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88336" y="3941064"/>
            <a:ext cx="19659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19" b="0" i="0">
                <a:solidFill>
                  <a:srgbClr val="A4B5CF"/>
                </a:solidFill>
                <a:latin typeface="Aptos"/>
              </a:rPr>
              <a:t>Roll 15  •  PRN 12414437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480560"/>
            <a:ext cx="20116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3F7FF"/>
                </a:solidFill>
                <a:latin typeface="Aptos"/>
              </a:rPr>
              <a:t>Raghav Palod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88336" y="4480560"/>
            <a:ext cx="19659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19" b="0" i="0" dirty="0">
                <a:solidFill>
                  <a:srgbClr val="A4B5CF"/>
                </a:solidFill>
                <a:latin typeface="Aptos"/>
              </a:rPr>
              <a:t>Roll 55  •  PRN 12412562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76656" y="5175504"/>
            <a:ext cx="6592824" cy="0"/>
          </a:xfrm>
          <a:prstGeom prst="line">
            <a:avLst/>
          </a:prstGeom>
          <a:ln w="11430">
            <a:solidFill>
              <a:srgbClr val="2B3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85800" y="5321808"/>
            <a:ext cx="1078992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 dirty="0">
                <a:solidFill>
                  <a:srgbClr val="A4B5CF"/>
                </a:solidFill>
                <a:latin typeface="Aptos"/>
              </a:rPr>
              <a:t>Faculty</a:t>
            </a:r>
            <a:r>
              <a:rPr sz="950" b="1" i="0" dirty="0">
                <a:solidFill>
                  <a:srgbClr val="A4B5CF"/>
                </a:solidFill>
                <a:latin typeface="Aptos"/>
              </a:rPr>
              <a:t> Guide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46504" y="5294376"/>
            <a:ext cx="3474720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3F7FF"/>
                </a:solidFill>
                <a:latin typeface="Aptos"/>
              </a:rPr>
              <a:t>Mrs. Rupali Rajaram Bathe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650992"/>
            <a:ext cx="201168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 dirty="0">
                <a:solidFill>
                  <a:srgbClr val="A4B5CF"/>
                </a:solidFill>
                <a:latin typeface="Aptos"/>
              </a:rPr>
              <a:t>Division</a:t>
            </a:r>
            <a:r>
              <a:rPr sz="1000" b="0" i="0" dirty="0">
                <a:solidFill>
                  <a:srgbClr val="A4B5CF"/>
                </a:solidFill>
                <a:latin typeface="Aptos"/>
              </a:rPr>
              <a:t>:</a:t>
            </a:r>
            <a:r>
              <a:rPr lang="en-IN" sz="1000" b="0" i="0" dirty="0">
                <a:solidFill>
                  <a:srgbClr val="A4B5CF"/>
                </a:solidFill>
                <a:latin typeface="Aptos"/>
              </a:rPr>
              <a:t> CBI-B</a:t>
            </a:r>
            <a:endParaRPr sz="1000" b="0" i="0" dirty="0">
              <a:solidFill>
                <a:srgbClr val="A4B5CF"/>
              </a:solidFill>
              <a:latin typeface="Apto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798064" y="5650992"/>
            <a:ext cx="32918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 dirty="0">
                <a:solidFill>
                  <a:srgbClr val="A4B5CF"/>
                </a:solidFill>
                <a:latin typeface="Aptos"/>
              </a:rPr>
              <a:t>Presentation</a:t>
            </a:r>
            <a:r>
              <a:rPr sz="1000" b="0" i="0" dirty="0">
                <a:solidFill>
                  <a:srgbClr val="A4B5CF"/>
                </a:solidFill>
                <a:latin typeface="Aptos"/>
              </a:rPr>
              <a:t> Date: 28 October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6153912"/>
            <a:ext cx="4572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A4B5CF"/>
                </a:solidFill>
                <a:latin typeface="Aptos"/>
              </a:rPr>
              <a:t>VIT • OPERATING SYSTEMS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11712" y="329184"/>
            <a:ext cx="68580" cy="68580"/>
          </a:xfrm>
          <a:prstGeom prst="ellipse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548872" y="329184"/>
            <a:ext cx="68580" cy="68580"/>
          </a:xfrm>
          <a:prstGeom prst="ellipse">
            <a:avLst/>
          </a:prstGeom>
          <a:solidFill>
            <a:srgbClr val="AC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86032" y="329184"/>
            <a:ext cx="68580" cy="68580"/>
          </a:xfrm>
          <a:prstGeom prst="ellipse">
            <a:avLst/>
          </a:prstGeom>
          <a:solidFill>
            <a:srgbClr val="4BD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46888"/>
            <a:ext cx="4572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A4B5CF"/>
                </a:solidFill>
                <a:latin typeface="Aptos"/>
              </a:rPr>
              <a:t>01 / PROJECT CONTEXT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B3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47104"/>
            <a:ext cx="6400800" cy="1554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4B5CF"/>
                </a:solidFill>
                <a:latin typeface="Aptos"/>
              </a:rPr>
              <a:t>OSIM NEXUS  •  OPERATING SYSTEMS 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967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12648"/>
            <a:ext cx="64008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0DAE8"/>
                </a:solidFill>
                <a:latin typeface="Aptos"/>
              </a:rPr>
              <a:t>01 / 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77824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3F7FF"/>
                </a:solidFill>
                <a:latin typeface="Aptos Display"/>
              </a:rPr>
              <a:t>Understanding OS algorithms can be difficult from theory alone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399032"/>
            <a:ext cx="10927080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4B5CF"/>
                </a:solidFill>
                <a:latin typeface="Aptos"/>
              </a:rPr>
              <a:t>The key challenge is making invisible operating-system decisions observable and easy to explore.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84248"/>
            <a:ext cx="3493008" cy="2011680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1984248"/>
            <a:ext cx="50292" cy="2011680"/>
          </a:xfrm>
          <a:prstGeom prst="rect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" y="2112264"/>
            <a:ext cx="310896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30DAE8"/>
                </a:solidFill>
                <a:latin typeface="Aptos"/>
              </a:rPr>
              <a:t>CHALLENGE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340864"/>
            <a:ext cx="310896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7FF"/>
                </a:solidFill>
                <a:latin typeface="Aptos Display"/>
              </a:rPr>
              <a:t>Processes and CPU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2734056"/>
            <a:ext cx="3081527" cy="1426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 dirty="0">
                <a:solidFill>
                  <a:srgbClr val="A4B5CF"/>
                </a:solidFill>
                <a:latin typeface="Aptos"/>
              </a:rPr>
              <a:t>Students must mentally track ready queues, execution order, preemption and waiting time. Small changes in arrival time or priority may change the schedule.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52544" y="1984248"/>
            <a:ext cx="3493008" cy="2011680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52544" y="1984248"/>
            <a:ext cx="50292" cy="2011680"/>
          </a:xfrm>
          <a:prstGeom prst="rect">
            <a:avLst/>
          </a:prstGeom>
          <a:solidFill>
            <a:srgbClr val="AC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53712" y="2112264"/>
            <a:ext cx="310896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AC75FF"/>
                </a:solidFill>
                <a:latin typeface="Aptos"/>
              </a:rPr>
              <a:t>CHALLENGE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2340864"/>
            <a:ext cx="310896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 dirty="0">
                <a:solidFill>
                  <a:srgbClr val="F3F7FF"/>
                </a:solidFill>
                <a:latin typeface="Aptos Display"/>
              </a:rPr>
              <a:t>Memory and resource decisions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2734056"/>
            <a:ext cx="3081527" cy="1426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 dirty="0">
                <a:solidFill>
                  <a:srgbClr val="A4B5CF"/>
                </a:solidFill>
                <a:latin typeface="Aptos"/>
              </a:rPr>
              <a:t>Allocation, page replacement, disk movement and shared-resource coordination involve state changes that are difficult to follow by hand.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5008" y="1984248"/>
            <a:ext cx="3493008" cy="2011680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65008" y="1984248"/>
            <a:ext cx="50292" cy="2011680"/>
          </a:xfrm>
          <a:prstGeom prst="rect">
            <a:avLst/>
          </a:prstGeom>
          <a:solidFill>
            <a:srgbClr val="4BD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66176" y="2112264"/>
            <a:ext cx="310896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 dirty="0">
                <a:solidFill>
                  <a:srgbClr val="4BDEA9"/>
                </a:solidFill>
                <a:latin typeface="Aptos"/>
              </a:rPr>
              <a:t>CHALLENGE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6" y="2340864"/>
            <a:ext cx="310896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7FF"/>
                </a:solidFill>
                <a:latin typeface="Aptos Display"/>
              </a:rPr>
              <a:t>Comparing alternatives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6" y="2734056"/>
            <a:ext cx="3081527" cy="1426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 dirty="0">
                <a:solidFill>
                  <a:srgbClr val="A4B5CF"/>
                </a:solidFill>
                <a:latin typeface="Aptos"/>
              </a:rPr>
              <a:t>Calculating multiple algorithms manually takes time and makes side-by-side comparisons harder to repeat consistently.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370832"/>
            <a:ext cx="10917936" cy="1143000"/>
          </a:xfrm>
          <a:prstGeom prst="roundRect">
            <a:avLst/>
          </a:prstGeom>
          <a:solidFill>
            <a:srgbClr val="16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6112" y="4599432"/>
            <a:ext cx="1600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0DAE8"/>
                </a:solidFill>
                <a:latin typeface="Aptos"/>
              </a:rPr>
              <a:t>PROBLEM STATEMENT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4526280"/>
            <a:ext cx="8549640" cy="512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3F7FF"/>
                </a:solidFill>
                <a:latin typeface="Aptos Display"/>
              </a:rPr>
              <a:t>How can learners interactively explore operating-system algorithms and understand their decisions through clear visual results?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32888" y="5074920"/>
            <a:ext cx="83210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A4B5CF"/>
                </a:solidFill>
                <a:latin typeface="Aptos"/>
              </a:rPr>
              <a:t>OSim Nexus addresses this learning gap through a unified, browser-based simulation workspace.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11712" y="329184"/>
            <a:ext cx="68580" cy="68580"/>
          </a:xfrm>
          <a:prstGeom prst="ellipse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548872" y="329184"/>
            <a:ext cx="68580" cy="68580"/>
          </a:xfrm>
          <a:prstGeom prst="ellipse">
            <a:avLst/>
          </a:prstGeom>
          <a:solidFill>
            <a:srgbClr val="AC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86032" y="329184"/>
            <a:ext cx="68580" cy="68580"/>
          </a:xfrm>
          <a:prstGeom prst="ellipse">
            <a:avLst/>
          </a:prstGeom>
          <a:solidFill>
            <a:srgbClr val="4BD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46888"/>
            <a:ext cx="4572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A4B5CF"/>
                </a:solidFill>
                <a:latin typeface="Aptos"/>
              </a:rPr>
              <a:t>02 / OBJECTIVES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B3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47104"/>
            <a:ext cx="6400800" cy="1554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4B5CF"/>
                </a:solidFill>
                <a:latin typeface="Aptos"/>
              </a:rPr>
              <a:t>OSIM NEXUS  •  OPERATING SYSTEMS 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967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12648"/>
            <a:ext cx="64008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0DAE8"/>
                </a:solidFill>
                <a:latin typeface="Aptos"/>
              </a:rPr>
              <a:t>02 / PROJECT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77824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3F7FF"/>
                </a:solidFill>
                <a:latin typeface="Aptos Display"/>
              </a:rPr>
              <a:t>What OSim Nexus is designed to achieve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399032"/>
            <a:ext cx="10927080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4B5CF"/>
                </a:solidFill>
                <a:latin typeface="Aptos"/>
              </a:rPr>
              <a:t>The project focuses on interactive learning, algorithm comparison and clear feedback for student experiments.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993392"/>
            <a:ext cx="5230368" cy="1298448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1993392"/>
            <a:ext cx="50292" cy="1298448"/>
          </a:xfrm>
          <a:prstGeom prst="rect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2121408"/>
            <a:ext cx="48463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30DAE8"/>
                </a:solidFill>
                <a:latin typeface="Aptos"/>
              </a:rPr>
              <a:t>OBJECTIVE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350008"/>
            <a:ext cx="48463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7FF"/>
                </a:solidFill>
                <a:latin typeface="Aptos Display"/>
              </a:rPr>
              <a:t>Visualize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2743200"/>
            <a:ext cx="4818888" cy="7132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4B5CF"/>
                </a:solidFill>
                <a:latin typeface="Aptos"/>
              </a:rPr>
              <a:t>Represent scheduling order, allocation state, page frames, disk requests and synchronization models in a form learners can inspect.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93392"/>
            <a:ext cx="5230368" cy="1298448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1993392"/>
            <a:ext cx="50292" cy="1298448"/>
          </a:xfrm>
          <a:prstGeom prst="rect">
            <a:avLst/>
          </a:prstGeom>
          <a:solidFill>
            <a:srgbClr val="AC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2121408"/>
            <a:ext cx="48463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AC75FF"/>
                </a:solidFill>
                <a:latin typeface="Aptos"/>
              </a:rPr>
              <a:t>OBJECTIVE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350008"/>
            <a:ext cx="48463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7FF"/>
                </a:solidFill>
                <a:latin typeface="Aptos Display"/>
              </a:rPr>
              <a:t>Experiment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2743200"/>
            <a:ext cx="4818888" cy="7132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4B5CF"/>
                </a:solidFill>
                <a:latin typeface="Aptos"/>
              </a:rPr>
              <a:t>Allow learners to supply inputs and run simulations rather than relying only on fixed textbook examples.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547872"/>
            <a:ext cx="5230368" cy="1298448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3547872"/>
            <a:ext cx="50292" cy="1298448"/>
          </a:xfrm>
          <a:prstGeom prst="rect">
            <a:avLst/>
          </a:prstGeom>
          <a:solidFill>
            <a:srgbClr val="4BD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3675887"/>
            <a:ext cx="48463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4BDEA9"/>
                </a:solidFill>
                <a:latin typeface="Aptos"/>
              </a:rPr>
              <a:t>OBJECTIVE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3904487"/>
            <a:ext cx="48463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7FF"/>
                </a:solidFill>
                <a:latin typeface="Aptos Display"/>
              </a:rPr>
              <a:t>Compare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297679"/>
            <a:ext cx="4818888" cy="7132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4B5CF"/>
                </a:solidFill>
                <a:latin typeface="Aptos"/>
              </a:rPr>
              <a:t>Support comparing algorithm choices under shared inputs to understand trade-offs and behavior.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547872"/>
            <a:ext cx="5230368" cy="1298448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17920" y="3547872"/>
            <a:ext cx="50292" cy="1298448"/>
          </a:xfrm>
          <a:prstGeom prst="rect">
            <a:avLst/>
          </a:prstGeom>
          <a:solidFill>
            <a:srgbClr val="FFB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19088" y="3675887"/>
            <a:ext cx="48463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FFB65A"/>
                </a:solidFill>
                <a:latin typeface="Aptos"/>
              </a:rPr>
              <a:t>OBJECTIVE 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3904487"/>
            <a:ext cx="48463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7FF"/>
                </a:solidFill>
                <a:latin typeface="Aptos Display"/>
              </a:rPr>
              <a:t>Strengthen concepts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4297679"/>
            <a:ext cx="4818888" cy="7132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4B5CF"/>
                </a:solidFill>
                <a:latin typeface="Aptos"/>
              </a:rPr>
              <a:t>Connect theoretical ideas with calculated outputs, state transitions and observable outcomes.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257800"/>
            <a:ext cx="10744200" cy="484632"/>
          </a:xfrm>
          <a:prstGeom prst="roundRect">
            <a:avLst/>
          </a:prstGeom>
          <a:solidFill>
            <a:srgbClr val="16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404104"/>
            <a:ext cx="12344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0DAE8"/>
                </a:solidFill>
                <a:latin typeface="Aptos"/>
              </a:rPr>
              <a:t>Learning cycle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67712" y="5376672"/>
            <a:ext cx="8686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3F7FF"/>
                </a:solidFill>
                <a:latin typeface="Aptos"/>
              </a:rPr>
              <a:t>Configure inputs  →  Run simulation  →  Inspect result  →  Compare  →  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11712" y="329184"/>
            <a:ext cx="68580" cy="68580"/>
          </a:xfrm>
          <a:prstGeom prst="ellipse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548872" y="329184"/>
            <a:ext cx="68580" cy="68580"/>
          </a:xfrm>
          <a:prstGeom prst="ellipse">
            <a:avLst/>
          </a:prstGeom>
          <a:solidFill>
            <a:srgbClr val="AC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86032" y="329184"/>
            <a:ext cx="68580" cy="68580"/>
          </a:xfrm>
          <a:prstGeom prst="ellipse">
            <a:avLst/>
          </a:prstGeom>
          <a:solidFill>
            <a:srgbClr val="4BD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46888"/>
            <a:ext cx="4572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A4B5CF"/>
                </a:solidFill>
                <a:latin typeface="Aptos"/>
              </a:rPr>
              <a:t>03 / MAIN MODULES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B3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47104"/>
            <a:ext cx="6400800" cy="1554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4B5CF"/>
                </a:solidFill>
                <a:latin typeface="Aptos"/>
              </a:rPr>
              <a:t>OSIM NEXUS  •  OPERATING SYSTEMS 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967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12648"/>
            <a:ext cx="64008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0DAE8"/>
                </a:solidFill>
                <a:latin typeface="Aptos"/>
              </a:rPr>
              <a:t>03 / MAIN PROJECT 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77824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3F7FF"/>
                </a:solidFill>
                <a:latin typeface="Aptos Display"/>
              </a:rPr>
              <a:t>Five core areas. One consistent learning experience.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399032"/>
            <a:ext cx="10927080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4B5CF"/>
                </a:solidFill>
                <a:latin typeface="Aptos"/>
              </a:rPr>
              <a:t>Each module focuses on a distinct operating-system problem and makes algorithm behavior easier to inspect.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901952"/>
            <a:ext cx="10771632" cy="566928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2048256"/>
            <a:ext cx="274320" cy="274320"/>
          </a:xfrm>
          <a:prstGeom prst="ellipse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103120"/>
            <a:ext cx="274320" cy="118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 i="0">
                <a:solidFill>
                  <a:srgbClr val="080E1D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020824"/>
            <a:ext cx="26060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3F7FF"/>
                </a:solidFill>
                <a:latin typeface="Aptos"/>
              </a:rPr>
              <a:t>CPU scheduling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020824"/>
            <a:ext cx="7086600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A4B5CF"/>
                </a:solidFill>
                <a:latin typeface="Aptos"/>
              </a:rPr>
              <a:t>FCFS, SJF, SRTF, Round Robin and Priority scheduling.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2615184"/>
            <a:ext cx="10771632" cy="566928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4400" y="2761488"/>
            <a:ext cx="274320" cy="274320"/>
          </a:xfrm>
          <a:prstGeom prst="ellipse">
            <a:avLst/>
          </a:prstGeom>
          <a:solidFill>
            <a:srgbClr val="AC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2816352"/>
            <a:ext cx="274320" cy="118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 i="0">
                <a:solidFill>
                  <a:srgbClr val="080E1D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2734056"/>
            <a:ext cx="26060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3F7FF"/>
                </a:solidFill>
                <a:latin typeface="Aptos"/>
              </a:rPr>
              <a:t>Memory allocation &amp; paging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2734056"/>
            <a:ext cx="7086600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A4B5CF"/>
                </a:solidFill>
                <a:latin typeface="Aptos"/>
              </a:rPr>
              <a:t>First, Best, Worst and Next Fit; FIFO, LRU, Optimal and Second Chance.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328416"/>
            <a:ext cx="10771632" cy="566928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14400" y="3474720"/>
            <a:ext cx="274320" cy="274320"/>
          </a:xfrm>
          <a:prstGeom prst="ellipse">
            <a:avLst/>
          </a:prstGeom>
          <a:solidFill>
            <a:srgbClr val="4BD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529584"/>
            <a:ext cx="274320" cy="118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 i="0">
                <a:solidFill>
                  <a:srgbClr val="080E1D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88" y="3447288"/>
            <a:ext cx="26060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3F7FF"/>
                </a:solidFill>
                <a:latin typeface="Aptos"/>
              </a:rPr>
              <a:t>Deadlock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447288"/>
            <a:ext cx="7086600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A4B5CF"/>
                </a:solidFill>
                <a:latin typeface="Aptos"/>
              </a:rPr>
              <a:t>Resource-allocation reasoning, Banker’s safety check and deadlock-related analysis.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4041648"/>
            <a:ext cx="10771632" cy="566928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14400" y="4187952"/>
            <a:ext cx="274320" cy="274320"/>
          </a:xfrm>
          <a:prstGeom prst="ellipse">
            <a:avLst/>
          </a:prstGeom>
          <a:solidFill>
            <a:srgbClr val="FFB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4242816"/>
            <a:ext cx="274320" cy="118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 i="0">
                <a:solidFill>
                  <a:srgbClr val="080E1D"/>
                </a:solidFill>
                <a:latin typeface="Apto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9888" y="4160520"/>
            <a:ext cx="26060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3F7FF"/>
                </a:solidFill>
                <a:latin typeface="Aptos"/>
              </a:rPr>
              <a:t>Disk scheduling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4160520"/>
            <a:ext cx="7086600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A4B5CF"/>
                </a:solidFill>
                <a:latin typeface="Aptos"/>
              </a:rPr>
              <a:t>FCFS, SSTF, SCAN, C-SCAN, LOOK and C-LOOK request ordering.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4754880"/>
            <a:ext cx="10771632" cy="566928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14400" y="4901184"/>
            <a:ext cx="274320" cy="274320"/>
          </a:xfrm>
          <a:prstGeom prst="ellipse">
            <a:avLst/>
          </a:prstGeom>
          <a:solidFill>
            <a:srgbClr val="52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4956048"/>
            <a:ext cx="274320" cy="118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 i="0">
                <a:solidFill>
                  <a:srgbClr val="080E1D"/>
                </a:solidFill>
                <a:latin typeface="Aptos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9888" y="4873752"/>
            <a:ext cx="26060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3F7FF"/>
                </a:solidFill>
                <a:latin typeface="Aptos"/>
              </a:rPr>
              <a:t>Synchronization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3360" y="4873752"/>
            <a:ext cx="7086600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A4B5CF"/>
                </a:solidFill>
                <a:latin typeface="Aptos"/>
              </a:rPr>
              <a:t>Producer–consumer and dining-philosophers concurrency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11712" y="329184"/>
            <a:ext cx="68580" cy="68580"/>
          </a:xfrm>
          <a:prstGeom prst="ellipse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548872" y="329184"/>
            <a:ext cx="68580" cy="68580"/>
          </a:xfrm>
          <a:prstGeom prst="ellipse">
            <a:avLst/>
          </a:prstGeom>
          <a:solidFill>
            <a:srgbClr val="AC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86032" y="329184"/>
            <a:ext cx="68580" cy="68580"/>
          </a:xfrm>
          <a:prstGeom prst="ellipse">
            <a:avLst/>
          </a:prstGeom>
          <a:solidFill>
            <a:srgbClr val="4BD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46888"/>
            <a:ext cx="4572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A4B5CF"/>
                </a:solidFill>
                <a:latin typeface="Aptos"/>
              </a:rPr>
              <a:t>04 / WORKFLOW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B3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47104"/>
            <a:ext cx="6400800" cy="1554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4B5CF"/>
                </a:solidFill>
                <a:latin typeface="Aptos"/>
              </a:rPr>
              <a:t>OSIM NEXUS  •  OPERATING SYSTEMS 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967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12648"/>
            <a:ext cx="64008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0DAE8"/>
                </a:solidFill>
                <a:latin typeface="Aptos"/>
              </a:rPr>
              <a:t>04 / HOW THE SYSTEM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77824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3F7FF"/>
                </a:solidFill>
                <a:latin typeface="Aptos Display"/>
              </a:rPr>
              <a:t>From a learner’s input to an interpretable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399032"/>
            <a:ext cx="10927080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4B5CF"/>
                </a:solidFill>
                <a:latin typeface="Aptos"/>
              </a:rPr>
              <a:t>A typical experiment follows a straightforward interaction loop across the interface and simulation logic.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148840"/>
            <a:ext cx="2542032" cy="2057400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1247" y="2350008"/>
            <a:ext cx="868680" cy="292608"/>
          </a:xfrm>
          <a:prstGeom prst="roundRect">
            <a:avLst/>
          </a:prstGeom>
          <a:solidFill>
            <a:srgbClr val="16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1247" y="2350008"/>
            <a:ext cx="41148" cy="292608"/>
          </a:xfrm>
          <a:prstGeom prst="rect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19" y="2404872"/>
            <a:ext cx="6858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0DAE8"/>
                </a:solidFill>
                <a:latin typeface="Aptos"/>
              </a:rPr>
              <a:t>STEP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2825496"/>
            <a:ext cx="21488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3F7FF"/>
                </a:solidFill>
                <a:latin typeface="Aptos Display"/>
              </a:rPr>
              <a:t>Configure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3273552"/>
            <a:ext cx="2121408" cy="6675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4B5CF"/>
                </a:solidFill>
                <a:latin typeface="Aptos"/>
              </a:rPr>
              <a:t>Enter process data, memory requests, resource matrices or disk requests.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27832" y="3218688"/>
            <a:ext cx="228600" cy="0"/>
          </a:xfrm>
          <a:prstGeom prst="line">
            <a:avLst/>
          </a:prstGeom>
          <a:ln w="25400">
            <a:solidFill>
              <a:srgbClr val="30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511296" y="2148840"/>
            <a:ext cx="2542032" cy="2057400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694176" y="2350008"/>
            <a:ext cx="868680" cy="292608"/>
          </a:xfrm>
          <a:prstGeom prst="roundRect">
            <a:avLst/>
          </a:prstGeom>
          <a:solidFill>
            <a:srgbClr val="16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94176" y="2350008"/>
            <a:ext cx="41148" cy="292608"/>
          </a:xfrm>
          <a:prstGeom prst="rect">
            <a:avLst/>
          </a:prstGeom>
          <a:solidFill>
            <a:srgbClr val="AC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13048" y="2404872"/>
            <a:ext cx="6858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AC75FF"/>
                </a:solidFill>
                <a:latin typeface="Aptos"/>
              </a:rPr>
              <a:t>STEP 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2825496"/>
            <a:ext cx="21488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3F7FF"/>
                </a:solidFill>
                <a:latin typeface="Aptos Display"/>
              </a:rPr>
              <a:t>Submit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3273552"/>
            <a:ext cx="2121408" cy="6675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4B5CF"/>
                </a:solidFill>
                <a:latin typeface="Aptos"/>
              </a:rPr>
              <a:t>The interface sends the selected inputs to the relevant API endpoint.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80760" y="3218688"/>
            <a:ext cx="228600" cy="0"/>
          </a:xfrm>
          <a:prstGeom prst="line">
            <a:avLst/>
          </a:prstGeom>
          <a:ln w="25400">
            <a:solidFill>
              <a:srgbClr val="30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64224" y="2148840"/>
            <a:ext cx="2542032" cy="2057400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547104" y="2350008"/>
            <a:ext cx="868680" cy="292608"/>
          </a:xfrm>
          <a:prstGeom prst="roundRect">
            <a:avLst/>
          </a:prstGeom>
          <a:solidFill>
            <a:srgbClr val="16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547104" y="2350008"/>
            <a:ext cx="41148" cy="292608"/>
          </a:xfrm>
          <a:prstGeom prst="rect">
            <a:avLst/>
          </a:prstGeom>
          <a:solidFill>
            <a:srgbClr val="4BD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65976" y="2404872"/>
            <a:ext cx="6858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4BDEA9"/>
                </a:solidFill>
                <a:latin typeface="Aptos"/>
              </a:rPr>
              <a:t>STEP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47104" y="2825496"/>
            <a:ext cx="21488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3F7FF"/>
                </a:solidFill>
                <a:latin typeface="Aptos Display"/>
              </a:rPr>
              <a:t>Simulate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7104" y="3273552"/>
            <a:ext cx="2121408" cy="6675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4B5CF"/>
                </a:solidFill>
                <a:latin typeface="Aptos"/>
              </a:rPr>
              <a:t>Backend logic applies the chosen algorithm and computes its state/result.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933688" y="3218688"/>
            <a:ext cx="228600" cy="0"/>
          </a:xfrm>
          <a:prstGeom prst="line">
            <a:avLst/>
          </a:prstGeom>
          <a:ln w="25400">
            <a:solidFill>
              <a:srgbClr val="30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217152" y="2148840"/>
            <a:ext cx="2542032" cy="2057400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400032" y="2350008"/>
            <a:ext cx="868680" cy="292608"/>
          </a:xfrm>
          <a:prstGeom prst="roundRect">
            <a:avLst/>
          </a:prstGeom>
          <a:solidFill>
            <a:srgbClr val="16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400032" y="2350008"/>
            <a:ext cx="41148" cy="292608"/>
          </a:xfrm>
          <a:prstGeom prst="rect">
            <a:avLst/>
          </a:prstGeom>
          <a:solidFill>
            <a:srgbClr val="FFB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18904" y="2404872"/>
            <a:ext cx="6858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FB65A"/>
                </a:solidFill>
                <a:latin typeface="Aptos"/>
              </a:rPr>
              <a:t>STEP 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00032" y="2825496"/>
            <a:ext cx="21488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3F7FF"/>
                </a:solidFill>
                <a:latin typeface="Aptos Display"/>
              </a:rPr>
              <a:t>Visualize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00032" y="3273552"/>
            <a:ext cx="2121408" cy="6675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4B5CF"/>
                </a:solidFill>
                <a:latin typeface="Aptos"/>
              </a:rPr>
              <a:t>The frontend presents output in a format suitable for inspection and comparison.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4709160"/>
            <a:ext cx="10789920" cy="731520"/>
          </a:xfrm>
          <a:prstGeom prst="roundRect">
            <a:avLst/>
          </a:prstGeom>
          <a:solidFill>
            <a:srgbClr val="16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" y="4937760"/>
            <a:ext cx="14173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0DAE8"/>
                </a:solidFill>
                <a:latin typeface="Aptos"/>
              </a:rPr>
              <a:t>Design principle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4864608"/>
            <a:ext cx="8641080" cy="3383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3F7FF"/>
                </a:solidFill>
                <a:latin typeface="Aptos"/>
              </a:rPr>
              <a:t>Inputs should be understandable, results should be inspectable, and invalid requests should receive clear feedback.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11712" y="329184"/>
            <a:ext cx="68580" cy="68580"/>
          </a:xfrm>
          <a:prstGeom prst="ellipse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548872" y="329184"/>
            <a:ext cx="68580" cy="68580"/>
          </a:xfrm>
          <a:prstGeom prst="ellipse">
            <a:avLst/>
          </a:prstGeom>
          <a:solidFill>
            <a:srgbClr val="AC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86032" y="329184"/>
            <a:ext cx="68580" cy="68580"/>
          </a:xfrm>
          <a:prstGeom prst="ellipse">
            <a:avLst/>
          </a:prstGeom>
          <a:solidFill>
            <a:srgbClr val="4BD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46888"/>
            <a:ext cx="4572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A4B5CF"/>
                </a:solidFill>
                <a:latin typeface="Aptos"/>
              </a:rPr>
              <a:t>05 / TECHNOLOGY STACK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B3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47104"/>
            <a:ext cx="6400800" cy="1554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4B5CF"/>
                </a:solidFill>
                <a:latin typeface="Aptos"/>
              </a:rPr>
              <a:t>OSIM NEXUS  •  OPERATING SYSTEMS 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967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12648"/>
            <a:ext cx="64008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0DAE8"/>
                </a:solidFill>
                <a:latin typeface="Aptos"/>
              </a:rPr>
              <a:t>05 / TECHNOLOGY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77824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3F7FF"/>
                </a:solidFill>
                <a:latin typeface="Aptos Display"/>
              </a:rPr>
              <a:t>Frontend: a responsive, interactive web 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399032"/>
            <a:ext cx="10927080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4B5CF"/>
                </a:solidFill>
                <a:latin typeface="Aptos"/>
              </a:rPr>
              <a:t>The frontend provides the user-facing controls, visual presentation of results, and connection to backend 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075688"/>
            <a:ext cx="3337560" cy="2331720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86968" y="2295144"/>
            <a:ext cx="1645920" cy="292608"/>
          </a:xfrm>
          <a:prstGeom prst="roundRect">
            <a:avLst/>
          </a:prstGeom>
          <a:solidFill>
            <a:srgbClr val="16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86968" y="2295144"/>
            <a:ext cx="41148" cy="292608"/>
          </a:xfrm>
          <a:prstGeom prst="rect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2350008"/>
            <a:ext cx="146304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0DAE8"/>
                </a:solidFill>
                <a:latin typeface="Aptos"/>
              </a:rPr>
              <a:t>COMPONENT-BASED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2761488"/>
            <a:ext cx="274320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3F7FF"/>
                </a:solidFill>
                <a:latin typeface="Aptos Display"/>
              </a:rPr>
              <a:t>React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429000"/>
            <a:ext cx="274320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4B5CF"/>
                </a:solidFill>
                <a:latin typeface="Aptos"/>
              </a:rPr>
              <a:t>Builds the interface from reusable views and interactive controls.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2075688"/>
            <a:ext cx="3337560" cy="2331720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72000" y="2295144"/>
            <a:ext cx="1645920" cy="292608"/>
          </a:xfrm>
          <a:prstGeom prst="roundRect">
            <a:avLst/>
          </a:prstGeom>
          <a:solidFill>
            <a:srgbClr val="16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0" y="2295144"/>
            <a:ext cx="41148" cy="292608"/>
          </a:xfrm>
          <a:prstGeom prst="rect">
            <a:avLst/>
          </a:prstGeom>
          <a:solidFill>
            <a:srgbClr val="AC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90872" y="2350008"/>
            <a:ext cx="146304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AC75FF"/>
                </a:solidFill>
                <a:latin typeface="Aptos"/>
              </a:rPr>
              <a:t>TYPED APPLICATION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761488"/>
            <a:ext cx="274320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3F7FF"/>
                </a:solidFill>
                <a:latin typeface="Aptos Display"/>
              </a:rPr>
              <a:t>TypeScript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429000"/>
            <a:ext cx="274320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4B5CF"/>
                </a:solidFill>
                <a:latin typeface="Aptos"/>
              </a:rPr>
              <a:t>Adds types to JavaScript code to make interfaces and data shapes easier to maintain.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5864" y="2075688"/>
            <a:ext cx="3337560" cy="2331720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257032" y="2295144"/>
            <a:ext cx="1645920" cy="292608"/>
          </a:xfrm>
          <a:prstGeom prst="roundRect">
            <a:avLst/>
          </a:prstGeom>
          <a:solidFill>
            <a:srgbClr val="16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57032" y="2295144"/>
            <a:ext cx="41148" cy="292608"/>
          </a:xfrm>
          <a:prstGeom prst="rect">
            <a:avLst/>
          </a:prstGeom>
          <a:solidFill>
            <a:srgbClr val="4BD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75904" y="2350008"/>
            <a:ext cx="146304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4BDEA9"/>
                </a:solidFill>
                <a:latin typeface="Aptos"/>
              </a:rPr>
              <a:t>DEVELOPMENT AND BUILD TOOLING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761488"/>
            <a:ext cx="274320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3F7FF"/>
                </a:solidFill>
                <a:latin typeface="Aptos Display"/>
              </a:rPr>
              <a:t>Vite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429000"/>
            <a:ext cx="274320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4B5CF"/>
                </a:solidFill>
                <a:latin typeface="Aptos"/>
              </a:rPr>
              <a:t>Runs the local development server and provides the frontend build workflow.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800600"/>
            <a:ext cx="10789920" cy="640080"/>
          </a:xfrm>
          <a:prstGeom prst="roundRect">
            <a:avLst/>
          </a:prstGeom>
          <a:solidFill>
            <a:srgbClr val="16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020056"/>
            <a:ext cx="18288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0DAE8"/>
                </a:solidFill>
                <a:latin typeface="Aptos"/>
              </a:rPr>
              <a:t>Frontend responsibilities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16352" y="4983480"/>
            <a:ext cx="83210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3F7FF"/>
                </a:solidFill>
                <a:latin typeface="Aptos"/>
              </a:rPr>
              <a:t>Collect inputs  •  Call APIs  •  Display calculated outputs  •  Help users compare algorithms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11712" y="329184"/>
            <a:ext cx="68580" cy="68580"/>
          </a:xfrm>
          <a:prstGeom prst="ellipse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548872" y="329184"/>
            <a:ext cx="68580" cy="68580"/>
          </a:xfrm>
          <a:prstGeom prst="ellipse">
            <a:avLst/>
          </a:prstGeom>
          <a:solidFill>
            <a:srgbClr val="AC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86032" y="329184"/>
            <a:ext cx="68580" cy="68580"/>
          </a:xfrm>
          <a:prstGeom prst="ellipse">
            <a:avLst/>
          </a:prstGeom>
          <a:solidFill>
            <a:srgbClr val="4BD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46888"/>
            <a:ext cx="4572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A4B5CF"/>
                </a:solidFill>
                <a:latin typeface="Aptos"/>
              </a:rPr>
              <a:t>06 / BACKEND &amp; API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B3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47104"/>
            <a:ext cx="6400800" cy="1554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4B5CF"/>
                </a:solidFill>
                <a:latin typeface="Aptos"/>
              </a:rPr>
              <a:t>OSIM NEXUS  •  OPERATING SYSTEMS 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967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12648"/>
            <a:ext cx="64008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0DAE8"/>
                </a:solidFill>
                <a:latin typeface="Aptos"/>
              </a:rPr>
              <a:t>06 / TECHNOLOGY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77824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3F7FF"/>
                </a:solidFill>
                <a:latin typeface="Aptos Display"/>
              </a:rPr>
              <a:t>Backend: API endpoints and simulation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399032"/>
            <a:ext cx="10927080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4B5CF"/>
                </a:solidFill>
                <a:latin typeface="Aptos"/>
              </a:rPr>
              <a:t>The Python backend receives structured requests, validates inputs and dispatches work to the corresponding OS module.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048256"/>
            <a:ext cx="3401568" cy="2103120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2048256"/>
            <a:ext cx="50292" cy="2103120"/>
          </a:xfrm>
          <a:prstGeom prst="rect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2176272"/>
            <a:ext cx="30175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30DAE8"/>
                </a:solidFill>
                <a:latin typeface="Aptos"/>
              </a:rPr>
              <a:t>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404872"/>
            <a:ext cx="30175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7FF"/>
                </a:solidFill>
                <a:latin typeface="Aptos Display"/>
              </a:rPr>
              <a:t>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2798064"/>
            <a:ext cx="2990088" cy="151790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20" b="0" i="0">
                <a:solidFill>
                  <a:srgbClr val="A4B5CF"/>
                </a:solidFill>
                <a:latin typeface="Aptos"/>
              </a:rPr>
              <a:t>Implements the simulation logic and represents the algorithms used in the educational modules.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2048256"/>
            <a:ext cx="3401568" cy="2103120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89120" y="2048256"/>
            <a:ext cx="50292" cy="2103120"/>
          </a:xfrm>
          <a:prstGeom prst="rect">
            <a:avLst/>
          </a:prstGeom>
          <a:solidFill>
            <a:srgbClr val="AC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90288" y="2176272"/>
            <a:ext cx="30175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AC75FF"/>
                </a:solidFill>
                <a:latin typeface="Aptos"/>
              </a:rPr>
              <a:t>API 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404872"/>
            <a:ext cx="30175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7FF"/>
                </a:solidFill>
                <a:latin typeface="Aptos Display"/>
              </a:rPr>
              <a:t>FastAPI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2798064"/>
            <a:ext cx="2990088" cy="151790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20" b="0" i="0">
                <a:solidFill>
                  <a:srgbClr val="A4B5CF"/>
                </a:solidFill>
                <a:latin typeface="Aptos"/>
              </a:rPr>
              <a:t>Exposes HTTP API routes for frontend requests and returns structured results for presentation.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2048256"/>
            <a:ext cx="3401568" cy="2103120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92440" y="2048256"/>
            <a:ext cx="50292" cy="2103120"/>
          </a:xfrm>
          <a:prstGeom prst="rect">
            <a:avLst/>
          </a:prstGeom>
          <a:solidFill>
            <a:srgbClr val="4BD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93608" y="2176272"/>
            <a:ext cx="30175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4BDEA9"/>
                </a:solidFill>
                <a:latin typeface="Aptos"/>
              </a:rPr>
              <a:t>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8" y="2404872"/>
            <a:ext cx="30175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7FF"/>
                </a:solidFill>
                <a:latin typeface="Aptos Display"/>
              </a:rPr>
              <a:t>Validation &amp; responses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2798064"/>
            <a:ext cx="2990088" cy="151790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20" b="0" i="0">
                <a:solidFill>
                  <a:srgbClr val="A4B5CF"/>
                </a:solidFill>
                <a:latin typeface="Aptos"/>
              </a:rPr>
              <a:t>Checks request shape and values, handles invalid input and provides results for the interface to display.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617720"/>
            <a:ext cx="10789920" cy="914400"/>
          </a:xfrm>
          <a:prstGeom prst="roundRect">
            <a:avLst/>
          </a:prstGeom>
          <a:solidFill>
            <a:srgbClr val="16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4800600"/>
            <a:ext cx="914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0DAE8"/>
                </a:solidFill>
                <a:latin typeface="Aptos"/>
              </a:rPr>
              <a:t>REQUEST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56632"/>
            <a:ext cx="1645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3F7FF"/>
                </a:solidFill>
                <a:latin typeface="Aptos"/>
              </a:rPr>
              <a:t>Frontend submits data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43200" y="5047488"/>
            <a:ext cx="640080" cy="0"/>
          </a:xfrm>
          <a:prstGeom prst="line">
            <a:avLst/>
          </a:prstGeom>
          <a:ln w="25400">
            <a:solidFill>
              <a:srgbClr val="30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547872" y="4800600"/>
            <a:ext cx="914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AC75FF"/>
                </a:solidFill>
                <a:latin typeface="Aptos"/>
              </a:rPr>
              <a:t>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47872" y="5056632"/>
            <a:ext cx="1645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3F7FF"/>
                </a:solidFill>
                <a:latin typeface="Aptos"/>
              </a:rPr>
              <a:t>API + algorithm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49240" y="5047488"/>
            <a:ext cx="640080" cy="0"/>
          </a:xfrm>
          <a:prstGeom prst="line">
            <a:avLst/>
          </a:prstGeom>
          <a:ln w="25400">
            <a:solidFill>
              <a:srgbClr val="30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172200" y="4800600"/>
            <a:ext cx="10972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4BDEA9"/>
                </a:solidFill>
                <a:latin typeface="Aptos"/>
              </a:rPr>
              <a:t>RESPONSE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5056632"/>
            <a:ext cx="1645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3F7FF"/>
                </a:solidFill>
                <a:latin typeface="Aptos"/>
              </a:rPr>
              <a:t>Structured result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001000" y="5047488"/>
            <a:ext cx="640080" cy="0"/>
          </a:xfrm>
          <a:prstGeom prst="line">
            <a:avLst/>
          </a:prstGeom>
          <a:ln w="25400">
            <a:solidFill>
              <a:srgbClr val="30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823960" y="4800600"/>
            <a:ext cx="10058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FB65A"/>
                </a:solidFill>
                <a:latin typeface="Aptos"/>
              </a:rPr>
              <a:t>DISPLAY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5056632"/>
            <a:ext cx="2057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3F7FF"/>
                </a:solidFill>
                <a:latin typeface="Aptos"/>
              </a:rPr>
              <a:t>Result visualization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11712" y="329184"/>
            <a:ext cx="68580" cy="68580"/>
          </a:xfrm>
          <a:prstGeom prst="ellipse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548872" y="329184"/>
            <a:ext cx="68580" cy="68580"/>
          </a:xfrm>
          <a:prstGeom prst="ellipse">
            <a:avLst/>
          </a:prstGeom>
          <a:solidFill>
            <a:srgbClr val="AC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86032" y="329184"/>
            <a:ext cx="68580" cy="68580"/>
          </a:xfrm>
          <a:prstGeom prst="ellipse">
            <a:avLst/>
          </a:prstGeom>
          <a:solidFill>
            <a:srgbClr val="4BD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46888"/>
            <a:ext cx="4572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A4B5CF"/>
                </a:solidFill>
                <a:latin typeface="Aptos"/>
              </a:rPr>
              <a:t>07 / MODULE DEEP DIVE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B3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47104"/>
            <a:ext cx="6400800" cy="1554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4B5CF"/>
                </a:solidFill>
                <a:latin typeface="Aptos"/>
              </a:rPr>
              <a:t>OSIM NEXUS  •  OPERATING SYSTEMS 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967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12648"/>
            <a:ext cx="64008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0DAE8"/>
                </a:solidFill>
                <a:latin typeface="Aptos"/>
              </a:rPr>
              <a:t>07 / MODULE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77824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3F7FF"/>
                </a:solidFill>
                <a:latin typeface="Aptos Display"/>
              </a:rPr>
              <a:t>CPU scheduling: how processes receive CPU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399032"/>
            <a:ext cx="10927080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4B5CF"/>
                </a:solidFill>
                <a:latin typeface="Aptos"/>
              </a:rPr>
              <a:t>Compare scheduling policies using inputs such as arrival time, burst time, priority and time quantum where relevant.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965960"/>
            <a:ext cx="3456432" cy="2286000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1965960"/>
            <a:ext cx="50292" cy="2286000"/>
          </a:xfrm>
          <a:prstGeom prst="rect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2093976"/>
            <a:ext cx="3072384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30DAE8"/>
                </a:solidFill>
                <a:latin typeface="Aptos"/>
              </a:rPr>
              <a:t>NON-PREEMPTIVE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322576"/>
            <a:ext cx="3072384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7FF"/>
                </a:solidFill>
                <a:latin typeface="Aptos Display"/>
              </a:rPr>
              <a:t>FCFS &amp; SJF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2715768"/>
            <a:ext cx="3044951" cy="17007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70" b="0" i="0">
                <a:solidFill>
                  <a:srgbClr val="A4B5CF"/>
                </a:solidFill>
                <a:latin typeface="Aptos"/>
              </a:rPr>
              <a:t>FCFS follows arrival order. SJF selects a process with a shorter burst among eligible processes; behavior depends on whether the variant is preemptive.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2" y="1965960"/>
            <a:ext cx="3456432" cy="2286000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70832" y="1965960"/>
            <a:ext cx="50292" cy="2286000"/>
          </a:xfrm>
          <a:prstGeom prst="rect">
            <a:avLst/>
          </a:prstGeom>
          <a:solidFill>
            <a:srgbClr val="AC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2093976"/>
            <a:ext cx="3072384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AC75FF"/>
                </a:solidFill>
                <a:latin typeface="Aptos"/>
              </a:rPr>
              <a:t>PREEMPTION &amp; FAIRNESS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322576"/>
            <a:ext cx="3072384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7FF"/>
                </a:solidFill>
                <a:latin typeface="Aptos Display"/>
              </a:rPr>
              <a:t>SRTF &amp; Round Robin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715768"/>
            <a:ext cx="3044951" cy="17007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70" b="0" i="0">
                <a:solidFill>
                  <a:srgbClr val="A4B5CF"/>
                </a:solidFill>
                <a:latin typeface="Aptos"/>
              </a:rPr>
              <a:t>SRTF can preempt when a shorter remaining time appears. Round Robin rotates processes using a time quantum.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5864" y="1965960"/>
            <a:ext cx="3456432" cy="2286000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55864" y="1965960"/>
            <a:ext cx="50292" cy="2286000"/>
          </a:xfrm>
          <a:prstGeom prst="rect">
            <a:avLst/>
          </a:prstGeom>
          <a:solidFill>
            <a:srgbClr val="4BD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57032" y="2093976"/>
            <a:ext cx="3072384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4BDEA9"/>
                </a:solidFill>
                <a:latin typeface="Aptos"/>
              </a:rPr>
              <a:t>PRIORITY POLICY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2" y="2322576"/>
            <a:ext cx="3072384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7FF"/>
                </a:solidFill>
                <a:latin typeface="Aptos Display"/>
              </a:rPr>
              <a:t>Priority scheduling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2715768"/>
            <a:ext cx="3044951" cy="17007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70" b="0" i="0">
                <a:solidFill>
                  <a:srgbClr val="A4B5CF"/>
                </a:solidFill>
                <a:latin typeface="Aptos"/>
              </a:rPr>
              <a:t>Selection is influenced by assigned priority. Tie-breaking and starvation behavior depend on implementation choices.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617720"/>
            <a:ext cx="10789920" cy="768096"/>
          </a:xfrm>
          <a:prstGeom prst="roundRect">
            <a:avLst/>
          </a:prstGeom>
          <a:solidFill>
            <a:srgbClr val="16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4837176"/>
            <a:ext cx="2240280" cy="1920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0DAE8"/>
                </a:solidFill>
                <a:latin typeface="Aptos"/>
              </a:rPr>
              <a:t>WHAT TO STUDY IN OUTPUTS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4800600"/>
            <a:ext cx="7818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3F7FF"/>
                </a:solidFill>
                <a:latin typeface="Aptos"/>
              </a:rPr>
              <a:t>Execution order  •  Gantt chart  •  Waiting time  •  Turnaround time  •  Completion behavior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11712" y="329184"/>
            <a:ext cx="68580" cy="68580"/>
          </a:xfrm>
          <a:prstGeom prst="ellipse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548872" y="329184"/>
            <a:ext cx="68580" cy="68580"/>
          </a:xfrm>
          <a:prstGeom prst="ellipse">
            <a:avLst/>
          </a:prstGeom>
          <a:solidFill>
            <a:srgbClr val="AC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86032" y="329184"/>
            <a:ext cx="68580" cy="68580"/>
          </a:xfrm>
          <a:prstGeom prst="ellipse">
            <a:avLst/>
          </a:prstGeom>
          <a:solidFill>
            <a:srgbClr val="4BD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46888"/>
            <a:ext cx="4572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A4B5CF"/>
                </a:solidFill>
                <a:latin typeface="Aptos"/>
              </a:rPr>
              <a:t>08 / MODULE DEEP DIVE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B3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47104"/>
            <a:ext cx="6400800" cy="1554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4B5CF"/>
                </a:solidFill>
                <a:latin typeface="Aptos"/>
              </a:rPr>
              <a:t>OSIM NEXUS  •  OPERATING SYSTEMS 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967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12648"/>
            <a:ext cx="64008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0DAE8"/>
                </a:solidFill>
                <a:latin typeface="Aptos"/>
              </a:rPr>
              <a:t>08 / OTHER 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77824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3F7FF"/>
                </a:solidFill>
                <a:latin typeface="Aptos Display"/>
              </a:rPr>
              <a:t>Memory, deadlocks, disk scheduling and synchronization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399032"/>
            <a:ext cx="10927080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4B5CF"/>
                </a:solidFill>
                <a:latin typeface="Aptos"/>
              </a:rPr>
              <a:t>These modules reveal how an operating system allocates finite resources, handles competing demands and orders 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901952"/>
            <a:ext cx="5230368" cy="1417320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1901952"/>
            <a:ext cx="50292" cy="1417320"/>
          </a:xfrm>
          <a:prstGeom prst="rect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2029968"/>
            <a:ext cx="48463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30DAE8"/>
                </a:solidFill>
                <a:latin typeface="Aptos"/>
              </a:rPr>
              <a:t>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258568"/>
            <a:ext cx="48463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7FF"/>
                </a:solidFill>
                <a:latin typeface="Aptos Display"/>
              </a:rPr>
              <a:t>Memory allocation &amp; paging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2651760"/>
            <a:ext cx="4818888" cy="8321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A4B5CF"/>
                </a:solidFill>
                <a:latin typeface="Aptos"/>
              </a:rPr>
              <a:t>Fit policies decide where a block goes. Page-replacement policies decide which page to evict when a frame is needed.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01952"/>
            <a:ext cx="5230368" cy="1417320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1901952"/>
            <a:ext cx="50292" cy="1417320"/>
          </a:xfrm>
          <a:prstGeom prst="rect">
            <a:avLst/>
          </a:prstGeom>
          <a:solidFill>
            <a:srgbClr val="AC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2029968"/>
            <a:ext cx="48463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AC75FF"/>
                </a:solidFill>
                <a:latin typeface="Aptos"/>
              </a:rPr>
              <a:t>RESOURCE 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258568"/>
            <a:ext cx="48463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7FF"/>
                </a:solidFill>
                <a:latin typeface="Aptos Display"/>
              </a:rPr>
              <a:t>Deadlock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2651760"/>
            <a:ext cx="4818888" cy="8321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A4B5CF"/>
                </a:solidFill>
                <a:latin typeface="Aptos"/>
              </a:rPr>
              <a:t>Banker’s algorithm checks whether a safe sequence exists for the given allocation, maximum-need and available-resource state.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602736"/>
            <a:ext cx="5230368" cy="1417320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3602736"/>
            <a:ext cx="50292" cy="1417320"/>
          </a:xfrm>
          <a:prstGeom prst="rect">
            <a:avLst/>
          </a:prstGeom>
          <a:solidFill>
            <a:srgbClr val="4BD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3730752"/>
            <a:ext cx="48463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4BDEA9"/>
                </a:solidFill>
                <a:latin typeface="Aptos"/>
              </a:rPr>
              <a:t>I/O SCHEDULING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3959352"/>
            <a:ext cx="48463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7FF"/>
                </a:solidFill>
                <a:latin typeface="Aptos Display"/>
              </a:rPr>
              <a:t>Disk scheduling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352544"/>
            <a:ext cx="4818888" cy="8321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A4B5CF"/>
                </a:solidFill>
                <a:latin typeface="Aptos"/>
              </a:rPr>
              <a:t>FCFS, SSTF, SCAN-family and LOOK-family strategies differ in request order and total disk-head movement.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602736"/>
            <a:ext cx="5230368" cy="1417320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17920" y="3602736"/>
            <a:ext cx="50292" cy="1417320"/>
          </a:xfrm>
          <a:prstGeom prst="rect">
            <a:avLst/>
          </a:prstGeom>
          <a:solidFill>
            <a:srgbClr val="FFB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19088" y="3730752"/>
            <a:ext cx="48463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FFB65A"/>
                </a:solidFill>
                <a:latin typeface="Aptos"/>
              </a:rPr>
              <a:t>CONCURRENCY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3959352"/>
            <a:ext cx="48463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7FF"/>
                </a:solidFill>
                <a:latin typeface="Aptos Display"/>
              </a:rPr>
              <a:t>Synchronization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4352544"/>
            <a:ext cx="4818888" cy="8321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A4B5CF"/>
                </a:solidFill>
                <a:latin typeface="Aptos"/>
              </a:rPr>
              <a:t>Producer–consumer and dining-philosophers models illustrate shared resources, coordination and the risk of conflicting access.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413248"/>
            <a:ext cx="1051560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30DAE8"/>
                </a:solidFill>
                <a:latin typeface="Aptos"/>
              </a:rPr>
              <a:t>Learning value: inspect the current state, change the inputs, compare policies and explain why the outputs differ.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11712" y="329184"/>
            <a:ext cx="68580" cy="68580"/>
          </a:xfrm>
          <a:prstGeom prst="ellipse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548872" y="329184"/>
            <a:ext cx="68580" cy="68580"/>
          </a:xfrm>
          <a:prstGeom prst="ellipse">
            <a:avLst/>
          </a:prstGeom>
          <a:solidFill>
            <a:srgbClr val="AC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86032" y="329184"/>
            <a:ext cx="68580" cy="68580"/>
          </a:xfrm>
          <a:prstGeom prst="ellipse">
            <a:avLst/>
          </a:prstGeom>
          <a:solidFill>
            <a:srgbClr val="4BD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46888"/>
            <a:ext cx="4572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A4B5CF"/>
                </a:solidFill>
                <a:latin typeface="Aptos"/>
              </a:rPr>
              <a:t>09 / FUTURE SCOPE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B3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47104"/>
            <a:ext cx="6400800" cy="1554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4B5CF"/>
                </a:solidFill>
                <a:latin typeface="Aptos"/>
              </a:rPr>
              <a:t>OSIM NEXUS  •  OPERATING SYSTEMS 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967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12648"/>
            <a:ext cx="64008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0DAE8"/>
                </a:solidFill>
                <a:latin typeface="Aptos"/>
              </a:rPr>
              <a:t>09 / FUTURE SCOPE &amp; 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77824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3F7FF"/>
                </a:solidFill>
                <a:latin typeface="Aptos Display"/>
              </a:rPr>
              <a:t>A foundation that can grow into a richer OS learning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399032"/>
            <a:ext cx="10927080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4B5CF"/>
                </a:solidFill>
                <a:latin typeface="Aptos"/>
              </a:rPr>
              <a:t>The current module set supports core demonstrations; the following ideas are possible extensions, not claims of implemented features.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901952"/>
            <a:ext cx="5230368" cy="987552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1901952"/>
            <a:ext cx="50292" cy="987552"/>
          </a:xfrm>
          <a:prstGeom prst="rect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2029968"/>
            <a:ext cx="48463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30DAE8"/>
                </a:solidFill>
                <a:latin typeface="Aptos"/>
              </a:rPr>
              <a:t>POSSIBLE NEXT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258568"/>
            <a:ext cx="48463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7FF"/>
                </a:solidFill>
                <a:latin typeface="Aptos Display"/>
              </a:rPr>
              <a:t>Guided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2651760"/>
            <a:ext cx="4818888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30" b="0" i="0">
                <a:solidFill>
                  <a:srgbClr val="A4B5CF"/>
                </a:solidFill>
                <a:latin typeface="Aptos"/>
              </a:rPr>
              <a:t>Add step-by-step explanations and concept checkpoints.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01952"/>
            <a:ext cx="5230368" cy="987552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1901952"/>
            <a:ext cx="50292" cy="987552"/>
          </a:xfrm>
          <a:prstGeom prst="rect">
            <a:avLst/>
          </a:prstGeom>
          <a:solidFill>
            <a:srgbClr val="AC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2029968"/>
            <a:ext cx="48463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AC75FF"/>
                </a:solidFill>
                <a:latin typeface="Aptos"/>
              </a:rPr>
              <a:t>POSSIBLE NEXT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258568"/>
            <a:ext cx="48463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7FF"/>
                </a:solidFill>
                <a:latin typeface="Aptos Display"/>
              </a:rPr>
              <a:t>More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2651760"/>
            <a:ext cx="4818888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30" b="0" i="0">
                <a:solidFill>
                  <a:srgbClr val="A4B5CF"/>
                </a:solidFill>
                <a:latin typeface="Aptos"/>
              </a:rPr>
              <a:t>Export run summaries and add clearer side-by-side metrics.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072384"/>
            <a:ext cx="5230368" cy="987552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3072384"/>
            <a:ext cx="50292" cy="987552"/>
          </a:xfrm>
          <a:prstGeom prst="rect">
            <a:avLst/>
          </a:prstGeom>
          <a:solidFill>
            <a:srgbClr val="4BD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3200400"/>
            <a:ext cx="48463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4BDEA9"/>
                </a:solidFill>
                <a:latin typeface="Aptos"/>
              </a:rPr>
              <a:t>POSSIBLE NEXT STEP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3429000"/>
            <a:ext cx="48463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7FF"/>
                </a:solidFill>
                <a:latin typeface="Aptos Display"/>
              </a:rPr>
              <a:t>Expanded scenarios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3822192"/>
            <a:ext cx="4818888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30" b="0" i="0">
                <a:solidFill>
                  <a:srgbClr val="A4B5CF"/>
                </a:solidFill>
                <a:latin typeface="Aptos"/>
              </a:rPr>
              <a:t>Introduce more boundary cases, datasets and scenario presets.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072384"/>
            <a:ext cx="5230368" cy="987552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2B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17920" y="3072384"/>
            <a:ext cx="50292" cy="987552"/>
          </a:xfrm>
          <a:prstGeom prst="rect">
            <a:avLst/>
          </a:prstGeom>
          <a:solidFill>
            <a:srgbClr val="FFB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19088" y="3200400"/>
            <a:ext cx="48463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FFB65A"/>
                </a:solidFill>
                <a:latin typeface="Aptos"/>
              </a:rPr>
              <a:t>POSSIBLE NEXT STEP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3429000"/>
            <a:ext cx="48463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7FF"/>
                </a:solidFill>
                <a:latin typeface="Aptos Display"/>
              </a:rPr>
              <a:t>Accessibility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3822192"/>
            <a:ext cx="4818888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30" b="0" i="0">
                <a:solidFill>
                  <a:srgbClr val="A4B5CF"/>
                </a:solidFill>
                <a:latin typeface="Aptos"/>
              </a:rPr>
              <a:t>Improve keyboard navigation, contrast, responsive layouts and assistive-text support.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498848"/>
            <a:ext cx="10789920" cy="914400"/>
          </a:xfrm>
          <a:prstGeom prst="roundRect">
            <a:avLst/>
          </a:prstGeom>
          <a:solidFill>
            <a:srgbClr val="16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4690872"/>
            <a:ext cx="1325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0DAE8"/>
                </a:solidFill>
                <a:latin typeface="Aptos"/>
              </a:rPr>
              <a:t>CONCLUSION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626864"/>
            <a:ext cx="859536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7FF"/>
                </a:solidFill>
                <a:latin typeface="Aptos Display"/>
              </a:rPr>
              <a:t>OSim Nexus makes operating-system concepts more tangible by combining simulation logic with a web interface for interactive exploration.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50992"/>
            <a:ext cx="101498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 i="0">
                <a:solidFill>
                  <a:srgbClr val="A4B5CF"/>
                </a:solidFill>
                <a:latin typeface="Aptos"/>
              </a:rPr>
              <a:t>The central outcome is a practical space to experiment, compare and build conceptual understanding.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11712" y="329184"/>
            <a:ext cx="68580" cy="68580"/>
          </a:xfrm>
          <a:prstGeom prst="ellipse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548872" y="329184"/>
            <a:ext cx="68580" cy="68580"/>
          </a:xfrm>
          <a:prstGeom prst="ellipse">
            <a:avLst/>
          </a:prstGeom>
          <a:solidFill>
            <a:srgbClr val="AC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86032" y="329184"/>
            <a:ext cx="68580" cy="68580"/>
          </a:xfrm>
          <a:prstGeom prst="ellipse">
            <a:avLst/>
          </a:prstGeom>
          <a:solidFill>
            <a:srgbClr val="4BD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46888"/>
            <a:ext cx="4572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A4B5CF"/>
                </a:solidFill>
                <a:latin typeface="Aptos"/>
              </a:rPr>
              <a:t>LIVE DEMONSTRATION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B3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47104"/>
            <a:ext cx="6400800" cy="1554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4B5CF"/>
                </a:solidFill>
                <a:latin typeface="Aptos"/>
              </a:rPr>
              <a:t>OSIM NEXUS  •  OPERATING SYSTEMS 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967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21792"/>
            <a:ext cx="54864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0DAE8"/>
                </a:solidFill>
                <a:latin typeface="Aptos"/>
              </a:rPr>
              <a:t>LIVE PROJECT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914400"/>
            <a:ext cx="1088136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3F7FF"/>
                </a:solidFill>
                <a:latin typeface="Aptos Display"/>
              </a:rPr>
              <a:t>DEMO 01 / MAIN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417320"/>
            <a:ext cx="1051560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A4B5CF"/>
                </a:solidFill>
                <a:latin typeface="Aptos"/>
              </a:rPr>
              <a:t>Replace this placeholder with a screenshot from the running OSim Nexus application.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865376"/>
            <a:ext cx="10881360" cy="4096512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52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440680" y="2852928"/>
            <a:ext cx="384048" cy="384048"/>
          </a:xfrm>
          <a:prstGeom prst="ellipse">
            <a:avLst/>
          </a:prstGeom>
          <a:solidFill>
            <a:srgbClr val="52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 flipV="1">
            <a:off x="4251960" y="3657600"/>
            <a:ext cx="1161288" cy="960120"/>
          </a:xfrm>
          <a:prstGeom prst="line">
            <a:avLst/>
          </a:prstGeom>
          <a:ln w="27940">
            <a:solidFill>
              <a:srgbClr val="52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413248" y="3657600"/>
            <a:ext cx="667512" cy="640080"/>
          </a:xfrm>
          <a:prstGeom prst="line">
            <a:avLst/>
          </a:prstGeom>
          <a:ln w="27940">
            <a:solidFill>
              <a:srgbClr val="52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080760" y="3931920"/>
            <a:ext cx="502920" cy="365760"/>
          </a:xfrm>
          <a:prstGeom prst="line">
            <a:avLst/>
          </a:prstGeom>
          <a:ln w="27940">
            <a:solidFill>
              <a:srgbClr val="52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0" y="3931920"/>
            <a:ext cx="1234440" cy="685800"/>
          </a:xfrm>
          <a:prstGeom prst="line">
            <a:avLst/>
          </a:prstGeom>
          <a:ln w="27940">
            <a:solidFill>
              <a:srgbClr val="52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246120" y="4882896"/>
            <a:ext cx="566928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3F7FF"/>
                </a:solidFill>
                <a:latin typeface="Aptos"/>
              </a:rPr>
              <a:t>DROP / INSERT SCREENSHOT 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349240"/>
            <a:ext cx="6629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4B5CF"/>
                </a:solidFill>
                <a:latin typeface="Aptos"/>
              </a:rPr>
              <a:t>Tip: use a cropped 16:9 screenshot and keep important UI labels readable.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" y="5596128"/>
            <a:ext cx="1874519" cy="292608"/>
          </a:xfrm>
          <a:prstGeom prst="roundRect">
            <a:avLst/>
          </a:prstGeom>
          <a:solidFill>
            <a:srgbClr val="16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6968" y="5596128"/>
            <a:ext cx="41148" cy="292608"/>
          </a:xfrm>
          <a:prstGeom prst="rect">
            <a:avLst/>
          </a:prstGeom>
          <a:solidFill>
            <a:srgbClr val="52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5650992"/>
            <a:ext cx="1691639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5291FF"/>
                </a:solidFill>
                <a:latin typeface="Aptos"/>
              </a:rPr>
              <a:t>SCREENSHOT PLACEHOLDER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11712" y="329184"/>
            <a:ext cx="68580" cy="68580"/>
          </a:xfrm>
          <a:prstGeom prst="ellipse">
            <a:avLst/>
          </a:prstGeom>
          <a:solidFill>
            <a:srgbClr val="3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548872" y="329184"/>
            <a:ext cx="68580" cy="68580"/>
          </a:xfrm>
          <a:prstGeom prst="ellipse">
            <a:avLst/>
          </a:prstGeom>
          <a:solidFill>
            <a:srgbClr val="AC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86032" y="329184"/>
            <a:ext cx="68580" cy="68580"/>
          </a:xfrm>
          <a:prstGeom prst="ellipse">
            <a:avLst/>
          </a:prstGeom>
          <a:solidFill>
            <a:srgbClr val="4BD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46888"/>
            <a:ext cx="4572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A4B5CF"/>
                </a:solidFill>
                <a:latin typeface="Aptos"/>
              </a:rPr>
              <a:t>LIVE DEMONSTRATION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B3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47104"/>
            <a:ext cx="6400800" cy="1554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4B5CF"/>
                </a:solidFill>
                <a:latin typeface="Aptos"/>
              </a:rPr>
              <a:t>OSIM NEXUS  •  OPERATING SYSTEMS 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967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21792"/>
            <a:ext cx="54864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0DAE8"/>
                </a:solidFill>
                <a:latin typeface="Aptos"/>
              </a:rPr>
              <a:t>LIVE PROJECT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914400"/>
            <a:ext cx="1088136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3F7FF"/>
                </a:solidFill>
                <a:latin typeface="Aptos Display"/>
              </a:rPr>
              <a:t>DEMO 02 / SIMULATION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417320"/>
            <a:ext cx="1051560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A4B5CF"/>
                </a:solidFill>
                <a:latin typeface="Aptos"/>
              </a:rPr>
              <a:t>Replace this placeholder with a screenshot from the running OSim Nexus application.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865376"/>
            <a:ext cx="10881360" cy="4096512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AC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440680" y="2852928"/>
            <a:ext cx="384048" cy="384048"/>
          </a:xfrm>
          <a:prstGeom prst="ellipse">
            <a:avLst/>
          </a:prstGeom>
          <a:solidFill>
            <a:srgbClr val="AC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 flipV="1">
            <a:off x="4251960" y="3657600"/>
            <a:ext cx="1161288" cy="960120"/>
          </a:xfrm>
          <a:prstGeom prst="line">
            <a:avLst/>
          </a:prstGeom>
          <a:ln w="27940">
            <a:solidFill>
              <a:srgbClr val="AC7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413248" y="3657600"/>
            <a:ext cx="667512" cy="640080"/>
          </a:xfrm>
          <a:prstGeom prst="line">
            <a:avLst/>
          </a:prstGeom>
          <a:ln w="27940">
            <a:solidFill>
              <a:srgbClr val="AC7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080760" y="3931920"/>
            <a:ext cx="502920" cy="365760"/>
          </a:xfrm>
          <a:prstGeom prst="line">
            <a:avLst/>
          </a:prstGeom>
          <a:ln w="27940">
            <a:solidFill>
              <a:srgbClr val="AC7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0" y="3931920"/>
            <a:ext cx="1234440" cy="685800"/>
          </a:xfrm>
          <a:prstGeom prst="line">
            <a:avLst/>
          </a:prstGeom>
          <a:ln w="27940">
            <a:solidFill>
              <a:srgbClr val="AC7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246120" y="4882896"/>
            <a:ext cx="566928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3F7FF"/>
                </a:solidFill>
                <a:latin typeface="Aptos"/>
              </a:rPr>
              <a:t>DROP / INSERT SCREENSHOT 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349240"/>
            <a:ext cx="6629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4B5CF"/>
                </a:solidFill>
                <a:latin typeface="Aptos"/>
              </a:rPr>
              <a:t>Tip: use a cropped 16:9 screenshot and keep important UI labels readable.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" y="5596128"/>
            <a:ext cx="1874519" cy="292608"/>
          </a:xfrm>
          <a:prstGeom prst="roundRect">
            <a:avLst/>
          </a:prstGeom>
          <a:solidFill>
            <a:srgbClr val="16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6968" y="5596128"/>
            <a:ext cx="41148" cy="292608"/>
          </a:xfrm>
          <a:prstGeom prst="rect">
            <a:avLst/>
          </a:prstGeom>
          <a:solidFill>
            <a:srgbClr val="AC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5650992"/>
            <a:ext cx="1691639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AC75FF"/>
                </a:solidFill>
                <a:latin typeface="Aptos"/>
              </a:rPr>
              <a:t>SCREENSHOT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1346</Words>
  <Application>Microsoft Office PowerPoint</Application>
  <PresentationFormat>Widescreen</PresentationFormat>
  <Paragraphs>218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OSim Nexus — Project Presentation</dc:title>
  <dc:subject>Operating Systems simulator academic presentation</dc:subject>
  <dc:creator>OSim Nexus Project Team</dc:creator>
  <cp:keywords>Operating Systems, CPU Scheduling, Memory Management, Deadlocks, Disk Scheduling, Synchronization</cp:keywords>
  <dc:description>generated using python-pptx</dc:description>
  <cp:lastModifiedBy>Atharva Joshi</cp:lastModifiedBy>
  <cp:revision>2</cp:revision>
  <dcterms:created xsi:type="dcterms:W3CDTF">2013-01-27T09:14:16Z</dcterms:created>
  <dcterms:modified xsi:type="dcterms:W3CDTF">2026-10-28T06:20:19Z</dcterms:modified>
  <cp:category/>
</cp:coreProperties>
</file>